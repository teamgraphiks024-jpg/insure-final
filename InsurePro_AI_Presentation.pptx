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7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>
        <p:scale>
          <a:sx n="110" d="100"/>
          <a:sy n="110" d="100"/>
        </p:scale>
        <p:origin x="658" y="19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043008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5052060"/>
            <a:ext cx="9144000" cy="9144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914400"/>
            <a:ext cx="50292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5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InsurePro</a:t>
            </a:r>
            <a:endParaRPr lang="en-US" sz="5800" dirty="0"/>
          </a:p>
        </p:txBody>
      </p:sp>
      <p:sp>
        <p:nvSpPr>
          <p:cNvPr id="5" name="Text 3"/>
          <p:cNvSpPr/>
          <p:nvPr/>
        </p:nvSpPr>
        <p:spPr>
          <a:xfrm>
            <a:off x="548640" y="1783080"/>
            <a:ext cx="1828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58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</a:t>
            </a:r>
            <a:endParaRPr lang="en-US" sz="5800" dirty="0"/>
          </a:p>
        </p:txBody>
      </p:sp>
      <p:sp>
        <p:nvSpPr>
          <p:cNvPr id="6" name="Text 4"/>
          <p:cNvSpPr/>
          <p:nvPr/>
        </p:nvSpPr>
        <p:spPr>
          <a:xfrm>
            <a:off x="548640" y="274320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in Life</a:t>
            </a:r>
            <a:r>
              <a:rPr lang="en-US" sz="18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Insurance Underwriting Intelligence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6134793" y="560070"/>
            <a:ext cx="2560320" cy="4023360"/>
          </a:xfrm>
          <a:prstGeom prst="rect">
            <a:avLst/>
          </a:prstGeom>
          <a:solidFill>
            <a:srgbClr val="1A3460"/>
          </a:solidFill>
          <a:ln w="12700">
            <a:solidFill>
              <a:srgbClr val="1E4080"/>
            </a:solidFill>
            <a:prstDash val="solid"/>
          </a:ln>
          <a:effectLst>
            <a:outerShdw blurRad="101600" dist="381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6400800" y="914400"/>
            <a:ext cx="219456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Details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Project: InsurePro AI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Domain: HealthTech / InsurTech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  <a:p>
            <a:pPr marL="0" indent="0">
              <a:buNone/>
            </a:pPr>
            <a:endParaRPr lang="en-US" sz="1200" dirty="0"/>
          </a:p>
          <a:p>
            <a:pPr marL="0" indent="0">
              <a:buNone/>
            </a:pPr>
            <a:endParaRPr lang="en-US" sz="1200" dirty="0"/>
          </a:p>
          <a:p>
            <a:pPr marL="0" indent="0">
              <a:buNone/>
            </a:pPr>
            <a:endParaRPr lang="en-US" sz="1200" dirty="0"/>
          </a:p>
          <a:p>
            <a:r>
              <a:rPr lang="en-IN" sz="1200" b="1" dirty="0">
                <a:solidFill>
                  <a:schemeClr val="bg1"/>
                </a:solidFill>
              </a:rPr>
              <a:t>KRISHNAKANTH M</a:t>
            </a:r>
            <a:endParaRPr lang="en-IN" sz="1200" dirty="0">
              <a:solidFill>
                <a:schemeClr val="bg1"/>
              </a:solidFill>
            </a:endParaRPr>
          </a:p>
          <a:p>
            <a:r>
              <a:rPr lang="en-IN" sz="1200" b="1" dirty="0">
                <a:solidFill>
                  <a:schemeClr val="bg1"/>
                </a:solidFill>
              </a:rPr>
              <a:t>SHIBIRAM R S</a:t>
            </a:r>
            <a:endParaRPr lang="en-IN" sz="1200" dirty="0">
              <a:solidFill>
                <a:schemeClr val="bg1"/>
              </a:solidFill>
            </a:endParaRPr>
          </a:p>
          <a:p>
            <a:r>
              <a:rPr lang="en-IN" sz="1200" b="1" dirty="0">
                <a:solidFill>
                  <a:schemeClr val="bg1"/>
                </a:solidFill>
              </a:rPr>
              <a:t>KANAGARAJ G </a:t>
            </a:r>
          </a:p>
          <a:p>
            <a:r>
              <a:rPr lang="en-IN" sz="1200" b="1" dirty="0">
                <a:solidFill>
                  <a:schemeClr val="bg1"/>
                </a:solidFill>
              </a:rPr>
              <a:t>PRASANTH M S</a:t>
            </a:r>
            <a:endParaRPr lang="en-IN" sz="1200" dirty="0">
              <a:solidFill>
                <a:schemeClr val="bg1"/>
              </a:solidFill>
            </a:endParaRPr>
          </a:p>
          <a:p>
            <a:r>
              <a:rPr lang="en-IN" sz="1200" b="1" dirty="0">
                <a:solidFill>
                  <a:schemeClr val="bg1"/>
                </a:solidFill>
              </a:rPr>
              <a:t>GOWTHAM S</a:t>
            </a:r>
            <a:endParaRPr lang="en-IN" sz="1200" dirty="0">
              <a:solidFill>
                <a:schemeClr val="bg1"/>
              </a:solidFill>
            </a:endParaRPr>
          </a:p>
          <a:p>
            <a:pPr marL="0" indent="0">
              <a:buNone/>
            </a:pP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3716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Statement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658368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challenge in health insurance underwriting today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987552"/>
            <a:ext cx="8229600" cy="18288"/>
          </a:xfrm>
          <a:prstGeom prst="rect">
            <a:avLst/>
          </a:prstGeom>
          <a:solidFill>
            <a:srgbClr val="1A3460"/>
          </a:solidFill>
          <a:ln w="12700">
            <a:solidFill>
              <a:srgbClr val="1A346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65760" y="1188720"/>
            <a:ext cx="4114800" cy="1508760"/>
          </a:xfrm>
          <a:prstGeom prst="rect">
            <a:avLst/>
          </a:prstGeom>
          <a:solidFill>
            <a:srgbClr val="1A3460"/>
          </a:solidFill>
          <a:ln w="12700">
            <a:solidFill>
              <a:srgbClr val="1E4080"/>
            </a:solidFill>
            <a:prstDash val="solid"/>
          </a:ln>
          <a:effectLst>
            <a:outerShdw blurRad="101600" dist="381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02920" y="132588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000000"/>
                </a:solidFill>
              </a:rPr>
              <a:t>⏱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1143000" y="132588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Slow Process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143000" y="1691640"/>
            <a:ext cx="3200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 underwriting takes days or weeks — delaying coverage for patients who need it urgently.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754880" y="1188720"/>
            <a:ext cx="4114800" cy="1508760"/>
          </a:xfrm>
          <a:prstGeom prst="rect">
            <a:avLst/>
          </a:prstGeom>
          <a:solidFill>
            <a:srgbClr val="1A3460"/>
          </a:solidFill>
          <a:ln w="12700">
            <a:solidFill>
              <a:srgbClr val="1E4080"/>
            </a:solidFill>
            <a:prstDash val="solid"/>
          </a:ln>
          <a:effectLst>
            <a:outerShdw blurRad="101600" dist="381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4892040" y="132588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000000"/>
                </a:solidFill>
              </a:rPr>
              <a:t>📋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5532120" y="132588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Error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5532120" y="1691640"/>
            <a:ext cx="3200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 data entry from medical reports introduces errors that lead to incorrect risk assessment.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365760" y="2880360"/>
            <a:ext cx="4114800" cy="1508760"/>
          </a:xfrm>
          <a:prstGeom prst="rect">
            <a:avLst/>
          </a:prstGeom>
          <a:solidFill>
            <a:srgbClr val="1A3460"/>
          </a:solidFill>
          <a:ln w="12700">
            <a:solidFill>
              <a:srgbClr val="1E4080"/>
            </a:solidFill>
            <a:prstDash val="solid"/>
          </a:ln>
          <a:effectLst>
            <a:outerShdw blurRad="101600" dist="381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502920" y="301752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000000"/>
                </a:solidFill>
              </a:rPr>
              <a:t>💰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1143000" y="301752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Cost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143000" y="3383280"/>
            <a:ext cx="3200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Employing large underwriting teams is expensive, making insurance inaccessible for smaller providers.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754880" y="2880360"/>
            <a:ext cx="4114800" cy="1508760"/>
          </a:xfrm>
          <a:prstGeom prst="rect">
            <a:avLst/>
          </a:prstGeom>
          <a:solidFill>
            <a:srgbClr val="1A3460"/>
          </a:solidFill>
          <a:ln w="12700">
            <a:solidFill>
              <a:srgbClr val="1E4080"/>
            </a:solidFill>
            <a:prstDash val="solid"/>
          </a:ln>
          <a:effectLst>
            <a:outerShdw blurRad="101600" dist="381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92040" y="301752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000000"/>
                </a:solidFill>
              </a:rPr>
              <a:t>📄</a:t>
            </a:r>
            <a:endParaRPr lang="en-US" sz="2200" dirty="0"/>
          </a:p>
        </p:txBody>
      </p:sp>
      <p:sp>
        <p:nvSpPr>
          <p:cNvPr id="20" name="Text 18"/>
          <p:cNvSpPr/>
          <p:nvPr/>
        </p:nvSpPr>
        <p:spPr>
          <a:xfrm>
            <a:off x="5532120" y="301752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Paper-Heavy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5532120" y="3383280"/>
            <a:ext cx="3200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Medical reports are still mostly paper or image-based, making automated processing difficult.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3716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Impact on Sector &amp; Industry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658368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this matters for healthcare and insurance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987552"/>
            <a:ext cx="8229600" cy="18288"/>
          </a:xfrm>
          <a:prstGeom prst="rect">
            <a:avLst/>
          </a:prstGeom>
          <a:solidFill>
            <a:srgbClr val="1A3460"/>
          </a:solidFill>
          <a:ln w="12700">
            <a:solidFill>
              <a:srgbClr val="1A346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20040" y="1188720"/>
            <a:ext cx="3931920" cy="1463040"/>
          </a:xfrm>
          <a:prstGeom prst="rect">
            <a:avLst/>
          </a:prstGeom>
          <a:solidFill>
            <a:srgbClr val="1A3460"/>
          </a:solidFill>
          <a:ln w="12700">
            <a:solidFill>
              <a:srgbClr val="1E4080"/>
            </a:solidFill>
            <a:prstDash val="solid"/>
          </a:ln>
          <a:effectLst>
            <a:outerShdw blurRad="101600" dist="381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02920" y="1325880"/>
            <a:ext cx="35661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$5.5T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502920" y="2011680"/>
            <a:ext cx="3566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health insurance market by 2030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709160" y="1188720"/>
            <a:ext cx="3931920" cy="1463040"/>
          </a:xfrm>
          <a:prstGeom prst="rect">
            <a:avLst/>
          </a:prstGeom>
          <a:solidFill>
            <a:srgbClr val="1A3460"/>
          </a:solidFill>
          <a:ln w="12700">
            <a:solidFill>
              <a:srgbClr val="1E4080"/>
            </a:solidFill>
            <a:prstDash val="solid"/>
          </a:ln>
          <a:effectLst>
            <a:outerShdw blurRad="101600" dist="381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892040" y="1325880"/>
            <a:ext cx="35661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40%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4892040" y="2011680"/>
            <a:ext cx="3566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Underwriting cost reduced with automation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320040" y="2926080"/>
            <a:ext cx="3931920" cy="1463040"/>
          </a:xfrm>
          <a:prstGeom prst="rect">
            <a:avLst/>
          </a:prstGeom>
          <a:solidFill>
            <a:srgbClr val="1A3460"/>
          </a:solidFill>
          <a:ln w="12700">
            <a:solidFill>
              <a:srgbClr val="1E4080"/>
            </a:solidFill>
            <a:prstDash val="solid"/>
          </a:ln>
          <a:effectLst>
            <a:outerShdw blurRad="101600" dist="381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502920" y="3063240"/>
            <a:ext cx="35661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Days → 3 Min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502920" y="3749040"/>
            <a:ext cx="3566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Processing time improvement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709160" y="2926080"/>
            <a:ext cx="3931920" cy="1463040"/>
          </a:xfrm>
          <a:prstGeom prst="rect">
            <a:avLst/>
          </a:prstGeom>
          <a:solidFill>
            <a:srgbClr val="1A3460"/>
          </a:solidFill>
          <a:ln w="12700">
            <a:solidFill>
              <a:srgbClr val="1E4080"/>
            </a:solidFill>
            <a:prstDash val="solid"/>
          </a:ln>
          <a:effectLst>
            <a:outerShdw blurRad="101600" dist="381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4892040" y="3063240"/>
            <a:ext cx="35661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60%</a:t>
            </a:r>
            <a:endParaRPr lang="en-US" sz="3000" dirty="0"/>
          </a:p>
        </p:txBody>
      </p:sp>
      <p:sp>
        <p:nvSpPr>
          <p:cNvPr id="17" name="Text 15"/>
          <p:cNvSpPr/>
          <p:nvPr/>
        </p:nvSpPr>
        <p:spPr>
          <a:xfrm>
            <a:off x="4892040" y="3749040"/>
            <a:ext cx="3566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Reduction in manual data entry errors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457200" y="45720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InsurePro AI directly addresses these gaps by automating the full underwriting pipeline — from OCR to risk scoring.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3716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Abstract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658368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overview and objectives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987552"/>
            <a:ext cx="8229600" cy="18288"/>
          </a:xfrm>
          <a:prstGeom prst="rect">
            <a:avLst/>
          </a:prstGeom>
          <a:solidFill>
            <a:srgbClr val="1A3460"/>
          </a:solidFill>
          <a:ln w="12700">
            <a:solidFill>
              <a:srgbClr val="1A346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65760" y="1097280"/>
            <a:ext cx="8412480" cy="2926080"/>
          </a:xfrm>
          <a:prstGeom prst="rect">
            <a:avLst/>
          </a:prstGeom>
          <a:solidFill>
            <a:srgbClr val="1A3460"/>
          </a:solidFill>
          <a:ln w="12700">
            <a:solidFill>
              <a:srgbClr val="1E4080"/>
            </a:solidFill>
            <a:prstDash val="solid"/>
          </a:ln>
          <a:effectLst>
            <a:outerShdw blurRad="101600" dist="381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640080" y="1234440"/>
            <a:ext cx="7955280" cy="2651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InsurePro AI</a:t>
            </a:r>
            <a:r>
              <a:rPr lang="en-US" sz="13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is a full-stack health insurance underwriting system designed to automate the end-to-end process of analyzing medical reports and generating insurance quotes.
The system accepts a policyholder profile and a scanned medical report image. Using </a:t>
            </a:r>
            <a:r>
              <a:rPr lang="en-US" sz="130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Tesseract OCR</a:t>
            </a:r>
            <a:r>
              <a:rPr lang="en-US" sz="13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running directly in the browser, it extracts text from the report and uses regex-based pattern matching to identify medical values such as glucose, blood pressure, HbA1c, and cholesterol.
A rule-based risk scoring engine — aligned with </a:t>
            </a:r>
            <a:r>
              <a:rPr lang="en-US" sz="13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 and AHA/ACC guidelines</a:t>
            </a:r>
            <a:r>
              <a:rPr lang="en-US" sz="13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assigns risk scores based on age, BMI, lifestyle, family history and clinical values. The system then maps the score to one of 5 premium tiers, from Platinum (₹4,000/yr) to Declined.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65760" y="4206240"/>
            <a:ext cx="2560320" cy="640080"/>
          </a:xfrm>
          <a:prstGeom prst="rect">
            <a:avLst/>
          </a:prstGeom>
          <a:solidFill>
            <a:srgbClr val="1A3460"/>
          </a:solidFill>
          <a:ln w="12700">
            <a:solidFill>
              <a:srgbClr val="1E4080"/>
            </a:solidFill>
            <a:prstDash val="solid"/>
          </a:ln>
          <a:effectLst>
            <a:outerShdw blurRad="101600" dist="381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457200" y="4297680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🎯 Automate OCR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3200400" y="4206240"/>
            <a:ext cx="2560320" cy="640080"/>
          </a:xfrm>
          <a:prstGeom prst="rect">
            <a:avLst/>
          </a:prstGeom>
          <a:solidFill>
            <a:srgbClr val="1A3460"/>
          </a:solidFill>
          <a:ln w="12700">
            <a:solidFill>
              <a:srgbClr val="1E4080"/>
            </a:solidFill>
            <a:prstDash val="solid"/>
          </a:ln>
          <a:effectLst>
            <a:outerShdw blurRad="101600" dist="381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291840" y="4297680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⚡ Instant Quotes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035040" y="4206240"/>
            <a:ext cx="2560320" cy="640080"/>
          </a:xfrm>
          <a:prstGeom prst="rect">
            <a:avLst/>
          </a:prstGeom>
          <a:solidFill>
            <a:srgbClr val="1A3460"/>
          </a:solidFill>
          <a:ln w="12700">
            <a:solidFill>
              <a:srgbClr val="1E4080"/>
            </a:solidFill>
            <a:prstDash val="solid"/>
          </a:ln>
          <a:effectLst>
            <a:outerShdw blurRad="101600" dist="381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6126480" y="4297680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🔒 No API Keys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3716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Advantages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658368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benefits of InsurePro AI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987552"/>
            <a:ext cx="8229600" cy="18288"/>
          </a:xfrm>
          <a:prstGeom prst="rect">
            <a:avLst/>
          </a:prstGeom>
          <a:solidFill>
            <a:srgbClr val="1A3460"/>
          </a:solidFill>
          <a:ln w="12700">
            <a:solidFill>
              <a:srgbClr val="1A346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74320" y="1143000"/>
            <a:ext cx="2834640" cy="1600200"/>
          </a:xfrm>
          <a:prstGeom prst="rect">
            <a:avLst/>
          </a:prstGeom>
          <a:solidFill>
            <a:srgbClr val="1A3460"/>
          </a:solidFill>
          <a:ln w="12700">
            <a:solidFill>
              <a:srgbClr val="1E4080"/>
            </a:solidFill>
            <a:prstDash val="solid"/>
          </a:ln>
          <a:effectLst>
            <a:outerShdw blurRad="101600" dist="381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411480" y="123444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000000"/>
                </a:solidFill>
              </a:rPr>
              <a:t>🌐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960120" y="1234440"/>
            <a:ext cx="2011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Browser-side OCR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11480" y="1691640"/>
            <a:ext cx="26060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Tesseract.js runs OCR directly in the user's browser — no image is uploaded to a server, ensuring data privacy.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246120" y="1143000"/>
            <a:ext cx="2834640" cy="1600200"/>
          </a:xfrm>
          <a:prstGeom prst="rect">
            <a:avLst/>
          </a:prstGeom>
          <a:solidFill>
            <a:srgbClr val="1A3460"/>
          </a:solidFill>
          <a:ln w="12700">
            <a:solidFill>
              <a:srgbClr val="1E4080"/>
            </a:solidFill>
            <a:prstDash val="solid"/>
          </a:ln>
          <a:effectLst>
            <a:outerShdw blurRad="101600" dist="381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383280" y="123444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000000"/>
                </a:solidFill>
              </a:rPr>
              <a:t>⚡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931920" y="1234440"/>
            <a:ext cx="2011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Instant Results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383280" y="1691640"/>
            <a:ext cx="26060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assessment and premium calculation happens in seconds, replacing a process that used to take days.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217920" y="1143000"/>
            <a:ext cx="2834640" cy="1600200"/>
          </a:xfrm>
          <a:prstGeom prst="rect">
            <a:avLst/>
          </a:prstGeom>
          <a:solidFill>
            <a:srgbClr val="1A3460"/>
          </a:solidFill>
          <a:ln w="12700">
            <a:solidFill>
              <a:srgbClr val="1E4080"/>
            </a:solidFill>
            <a:prstDash val="solid"/>
          </a:ln>
          <a:effectLst>
            <a:outerShdw blurRad="101600" dist="381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6355080" y="123444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000000"/>
                </a:solidFill>
              </a:rPr>
              <a:t>🔒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6903720" y="1234440"/>
            <a:ext cx="2011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API Keys Needed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355080" y="1691640"/>
            <a:ext cx="26060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Fully offline OCR with no dependency on paid cloud APIs like Google Vision or AWS Textract.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274320" y="2971800"/>
            <a:ext cx="2834640" cy="1600200"/>
          </a:xfrm>
          <a:prstGeom prst="rect">
            <a:avLst/>
          </a:prstGeom>
          <a:solidFill>
            <a:srgbClr val="1A3460"/>
          </a:solidFill>
          <a:ln w="12700">
            <a:solidFill>
              <a:srgbClr val="1E4080"/>
            </a:solidFill>
            <a:prstDash val="solid"/>
          </a:ln>
          <a:effectLst>
            <a:outerShdw blurRad="101600" dist="381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11480" y="306324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000000"/>
                </a:solidFill>
              </a:rPr>
              <a:t>📊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3063240"/>
            <a:ext cx="2011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Medical Guidelines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11480" y="3520440"/>
            <a:ext cx="26060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scoring follows ADA (diabetes) and AHA/ACC (cardiovascular) guidelines for accurate, defensible decisions.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246120" y="2971800"/>
            <a:ext cx="2834640" cy="1600200"/>
          </a:xfrm>
          <a:prstGeom prst="rect">
            <a:avLst/>
          </a:prstGeom>
          <a:solidFill>
            <a:srgbClr val="1A3460"/>
          </a:solidFill>
          <a:ln w="12700">
            <a:solidFill>
              <a:srgbClr val="1E4080"/>
            </a:solidFill>
            <a:prstDash val="solid"/>
          </a:ln>
          <a:effectLst>
            <a:outerShdw blurRad="101600" dist="381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3383280" y="306324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000000"/>
                </a:solidFill>
              </a:rPr>
              <a:t>💻</a:t>
            </a:r>
            <a:endParaRPr lang="en-US" sz="2000" dirty="0"/>
          </a:p>
        </p:txBody>
      </p:sp>
      <p:sp>
        <p:nvSpPr>
          <p:cNvPr id="24" name="Text 22"/>
          <p:cNvSpPr/>
          <p:nvPr/>
        </p:nvSpPr>
        <p:spPr>
          <a:xfrm>
            <a:off x="3931920" y="3063240"/>
            <a:ext cx="2011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Stack Modern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3383280" y="3520440"/>
            <a:ext cx="26060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+ FastAPI + Vercel + Render = production-ready, scalable architecture with CI/CD via GitHub.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6217920" y="2971800"/>
            <a:ext cx="2834640" cy="1600200"/>
          </a:xfrm>
          <a:prstGeom prst="rect">
            <a:avLst/>
          </a:prstGeom>
          <a:solidFill>
            <a:srgbClr val="1A3460"/>
          </a:solidFill>
          <a:ln w="12700">
            <a:solidFill>
              <a:srgbClr val="1E4080"/>
            </a:solidFill>
            <a:prstDash val="solid"/>
          </a:ln>
          <a:effectLst>
            <a:outerShdw blurRad="101600" dist="381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6355080" y="306324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000000"/>
                </a:solidFill>
              </a:rPr>
              <a:t>🧪</a:t>
            </a:r>
            <a:endParaRPr lang="en-US" sz="2000" dirty="0"/>
          </a:p>
        </p:txBody>
      </p:sp>
      <p:sp>
        <p:nvSpPr>
          <p:cNvPr id="28" name="Text 26"/>
          <p:cNvSpPr/>
          <p:nvPr/>
        </p:nvSpPr>
        <p:spPr>
          <a:xfrm>
            <a:off x="6903720" y="3063240"/>
            <a:ext cx="2011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Sample Profiles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6355080" y="3520440"/>
            <a:ext cx="26060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Built-in sample data for Acceptable, Needs Review, and Declined profiles for easy demonstration and testing.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3716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Modules Used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658368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Libraries and frameworks powering the system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987552"/>
            <a:ext cx="8229600" cy="18288"/>
          </a:xfrm>
          <a:prstGeom prst="rect">
            <a:avLst/>
          </a:prstGeom>
          <a:solidFill>
            <a:srgbClr val="1A3460"/>
          </a:solidFill>
          <a:ln w="12700">
            <a:solidFill>
              <a:srgbClr val="1A346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20040" y="1097280"/>
            <a:ext cx="2651760" cy="3749040"/>
          </a:xfrm>
          <a:prstGeom prst="rect">
            <a:avLst/>
          </a:prstGeom>
          <a:solidFill>
            <a:srgbClr val="1A3460"/>
          </a:solidFill>
          <a:ln w="12700">
            <a:solidFill>
              <a:srgbClr val="1E4080"/>
            </a:solidFill>
            <a:prstDash val="solid"/>
          </a:ln>
          <a:effectLst>
            <a:outerShdw blurRad="101600" dist="381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320040" y="1097280"/>
            <a:ext cx="2651760" cy="411480"/>
          </a:xfrm>
          <a:prstGeom prst="rect">
            <a:avLst/>
          </a:prstGeom>
          <a:solidFill>
            <a:srgbClr val="0F2040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1115568"/>
            <a:ext cx="2468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57200" y="1691640"/>
            <a:ext cx="54864" cy="228600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664208"/>
            <a:ext cx="2194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18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57200" y="2258568"/>
            <a:ext cx="54864" cy="228600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2231136"/>
            <a:ext cx="2194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Vite 5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57200" y="2825496"/>
            <a:ext cx="54864" cy="228600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2798064"/>
            <a:ext cx="2194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TailwindCSS 3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57200" y="3392424"/>
            <a:ext cx="54864" cy="228600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0080" y="3364992"/>
            <a:ext cx="2194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Lucide React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57200" y="3959352"/>
            <a:ext cx="54864" cy="228600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3931920"/>
            <a:ext cx="2194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Tesseract.js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200400" y="1097280"/>
            <a:ext cx="2651760" cy="3749040"/>
          </a:xfrm>
          <a:prstGeom prst="rect">
            <a:avLst/>
          </a:prstGeom>
          <a:solidFill>
            <a:srgbClr val="1A3460"/>
          </a:solidFill>
          <a:ln w="12700">
            <a:solidFill>
              <a:srgbClr val="1E4080"/>
            </a:solidFill>
            <a:prstDash val="solid"/>
          </a:ln>
          <a:effectLst>
            <a:outerShdw blurRad="101600" dist="381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3200400" y="1097280"/>
            <a:ext cx="2651760" cy="411480"/>
          </a:xfrm>
          <a:prstGeom prst="rect">
            <a:avLst/>
          </a:prstGeom>
          <a:solidFill>
            <a:srgbClr val="0F2040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291840" y="1115568"/>
            <a:ext cx="2468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3337560" y="1691640"/>
            <a:ext cx="54864" cy="22860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520440" y="1664208"/>
            <a:ext cx="2194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FastAPI 0.104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3337560" y="2258568"/>
            <a:ext cx="54864" cy="22860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520440" y="2231136"/>
            <a:ext cx="2194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Uvicorn 0.24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3337560" y="2825496"/>
            <a:ext cx="54864" cy="22860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520440" y="2798064"/>
            <a:ext cx="2194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Pydantic 2.5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3337560" y="3392424"/>
            <a:ext cx="54864" cy="22860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520440" y="3364992"/>
            <a:ext cx="2194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Pillow 10.1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3337560" y="3959352"/>
            <a:ext cx="54864" cy="22860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520440" y="3931920"/>
            <a:ext cx="2194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Python-dotenv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6080760" y="1097280"/>
            <a:ext cx="2651760" cy="3749040"/>
          </a:xfrm>
          <a:prstGeom prst="rect">
            <a:avLst/>
          </a:prstGeom>
          <a:solidFill>
            <a:srgbClr val="1A3460"/>
          </a:solidFill>
          <a:ln w="12700">
            <a:solidFill>
              <a:srgbClr val="1E4080"/>
            </a:solidFill>
            <a:prstDash val="solid"/>
          </a:ln>
          <a:effectLst>
            <a:outerShdw blurRad="101600" dist="381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33" name="Shape 31"/>
          <p:cNvSpPr/>
          <p:nvPr/>
        </p:nvSpPr>
        <p:spPr>
          <a:xfrm>
            <a:off x="6080760" y="1097280"/>
            <a:ext cx="2651760" cy="411480"/>
          </a:xfrm>
          <a:prstGeom prst="rect">
            <a:avLst/>
          </a:prstGeom>
          <a:solidFill>
            <a:srgbClr val="0F2040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172200" y="1115568"/>
            <a:ext cx="2468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Deployment</a:t>
            </a:r>
            <a:endParaRPr lang="en-US" sz="1400" dirty="0"/>
          </a:p>
        </p:txBody>
      </p:sp>
      <p:sp>
        <p:nvSpPr>
          <p:cNvPr id="35" name="Shape 33"/>
          <p:cNvSpPr/>
          <p:nvPr/>
        </p:nvSpPr>
        <p:spPr>
          <a:xfrm>
            <a:off x="6217920" y="1691640"/>
            <a:ext cx="54864" cy="22860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00800" y="1664208"/>
            <a:ext cx="2194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Vercel (Frontend)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6217920" y="2258568"/>
            <a:ext cx="54864" cy="22860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400800" y="2231136"/>
            <a:ext cx="2194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Render (Backend)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6217920" y="2825496"/>
            <a:ext cx="54864" cy="22860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400800" y="2798064"/>
            <a:ext cx="2194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(CI/CD)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6217920" y="3392424"/>
            <a:ext cx="54864" cy="22860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400800" y="3364992"/>
            <a:ext cx="2194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npm + pip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3716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Hardware &amp; Software Requirements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658368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you need to run InsurePro AI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987552"/>
            <a:ext cx="8229600" cy="18288"/>
          </a:xfrm>
          <a:prstGeom prst="rect">
            <a:avLst/>
          </a:prstGeom>
          <a:solidFill>
            <a:srgbClr val="1A3460"/>
          </a:solidFill>
          <a:ln w="12700">
            <a:solidFill>
              <a:srgbClr val="1A346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20040" y="1097280"/>
            <a:ext cx="3931920" cy="3749040"/>
          </a:xfrm>
          <a:prstGeom prst="rect">
            <a:avLst/>
          </a:prstGeom>
          <a:solidFill>
            <a:srgbClr val="1A3460"/>
          </a:solidFill>
          <a:ln w="12700">
            <a:solidFill>
              <a:srgbClr val="1E4080"/>
            </a:solidFill>
            <a:prstDash val="solid"/>
          </a:ln>
          <a:effectLst>
            <a:outerShdw blurRad="101600" dist="381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457200" y="1170432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🖥  Hardware Requirements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57200" y="1691640"/>
            <a:ext cx="164592" cy="164592"/>
          </a:xfrm>
          <a:prstGeom prst="ellipse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1664208"/>
            <a:ext cx="3383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CPU: Any modern dual-core processor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57200" y="2286000"/>
            <a:ext cx="164592" cy="164592"/>
          </a:xfrm>
          <a:prstGeom prst="ellipse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31520" y="2258568"/>
            <a:ext cx="3383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RAM: Minimum 4GB (8GB recommended)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457200" y="2880360"/>
            <a:ext cx="164592" cy="164592"/>
          </a:xfrm>
          <a:prstGeom prst="ellipse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31520" y="2852928"/>
            <a:ext cx="3383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Storage: 500MB free disk space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57200" y="3474720"/>
            <a:ext cx="164592" cy="164592"/>
          </a:xfrm>
          <a:prstGeom prst="ellipse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31520" y="3447288"/>
            <a:ext cx="3383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Browser: Chrome / Edge / Firefox (latest)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457200" y="4069080"/>
            <a:ext cx="164592" cy="164592"/>
          </a:xfrm>
          <a:prstGeom prst="ellipse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31520" y="4041648"/>
            <a:ext cx="3383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Network: Internet for deployment access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4572000" y="1097280"/>
            <a:ext cx="4206240" cy="3749040"/>
          </a:xfrm>
          <a:prstGeom prst="rect">
            <a:avLst/>
          </a:prstGeom>
          <a:solidFill>
            <a:srgbClr val="1A3460"/>
          </a:solidFill>
          <a:ln w="12700">
            <a:solidFill>
              <a:srgbClr val="1E4080"/>
            </a:solidFill>
            <a:prstDash val="solid"/>
          </a:ln>
          <a:effectLst>
            <a:outerShdw blurRad="101600" dist="381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709160" y="1170432"/>
            <a:ext cx="3931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⚙️  Software Requirements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4709160" y="1691640"/>
            <a:ext cx="164592" cy="16459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983480" y="1664208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OS: Windows 10+ / macOS / Linux (Ubuntu)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4709160" y="2286000"/>
            <a:ext cx="164592" cy="16459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983480" y="2258568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Python: Version 3.9 or above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4709160" y="2880360"/>
            <a:ext cx="164592" cy="16459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983480" y="2852928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Node.js: Version 18 or above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4709160" y="3474720"/>
            <a:ext cx="164592" cy="16459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983480" y="3447288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Tesseract OCR: v5.x (local) / Tesseract.js (web)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4709160" y="4069080"/>
            <a:ext cx="164592" cy="16459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983480" y="4041648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Git: For version control and deployment</a:t>
            </a:r>
            <a:endParaRPr lang="en-US" sz="11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3716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Technical Requirements — Frontend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658368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application architecture and components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987552"/>
            <a:ext cx="8229600" cy="18288"/>
          </a:xfrm>
          <a:prstGeom prst="rect">
            <a:avLst/>
          </a:prstGeom>
          <a:solidFill>
            <a:srgbClr val="1A3460"/>
          </a:solidFill>
          <a:ln w="12700">
            <a:solidFill>
              <a:srgbClr val="1A346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74320" y="1097280"/>
            <a:ext cx="1965960" cy="2560320"/>
          </a:xfrm>
          <a:prstGeom prst="rect">
            <a:avLst/>
          </a:prstGeom>
          <a:solidFill>
            <a:srgbClr val="1A3460"/>
          </a:solidFill>
          <a:ln w="12700">
            <a:solidFill>
              <a:srgbClr val="1E4080"/>
            </a:solidFill>
            <a:prstDash val="solid"/>
          </a:ln>
          <a:effectLst>
            <a:outerShdw blurRad="101600" dist="381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274320" y="1097280"/>
            <a:ext cx="1965960" cy="347472"/>
          </a:xfrm>
          <a:prstGeom prst="rect">
            <a:avLst/>
          </a:prstGeom>
          <a:solidFill>
            <a:srgbClr val="0F2040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65760" y="1115568"/>
            <a:ext cx="17830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App.jsx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11480" y="1554480"/>
            <a:ext cx="169164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component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Manages step state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&amp; API calls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2267712" y="2240280"/>
            <a:ext cx="182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94A3B8"/>
                </a:solidFill>
              </a:rPr>
              <a:t>→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2450592" y="1097280"/>
            <a:ext cx="1965960" cy="2560320"/>
          </a:xfrm>
          <a:prstGeom prst="rect">
            <a:avLst/>
          </a:prstGeom>
          <a:solidFill>
            <a:srgbClr val="1A3460"/>
          </a:solidFill>
          <a:ln w="12700">
            <a:solidFill>
              <a:srgbClr val="1E4080"/>
            </a:solidFill>
            <a:prstDash val="solid"/>
          </a:ln>
          <a:effectLst>
            <a:outerShdw blurRad="101600" dist="381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2450592" y="1097280"/>
            <a:ext cx="1965960" cy="347472"/>
          </a:xfrm>
          <a:prstGeom prst="rect">
            <a:avLst/>
          </a:prstGeom>
          <a:solidFill>
            <a:srgbClr val="0F2040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542032" y="1115568"/>
            <a:ext cx="17830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PolicyHolderProfile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2587752" y="1554480"/>
            <a:ext cx="169164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1 form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 validation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Sample profiles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443984" y="2240280"/>
            <a:ext cx="182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94A3B8"/>
                </a:solidFill>
              </a:rPr>
              <a:t>→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4626864" y="1097280"/>
            <a:ext cx="1965960" cy="2560320"/>
          </a:xfrm>
          <a:prstGeom prst="rect">
            <a:avLst/>
          </a:prstGeom>
          <a:solidFill>
            <a:srgbClr val="1A3460"/>
          </a:solidFill>
          <a:ln w="12700">
            <a:solidFill>
              <a:srgbClr val="1E4080"/>
            </a:solidFill>
            <a:prstDash val="solid"/>
          </a:ln>
          <a:effectLst>
            <a:outerShdw blurRad="101600" dist="381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626864" y="1097280"/>
            <a:ext cx="1965960" cy="347472"/>
          </a:xfrm>
          <a:prstGeom prst="rect">
            <a:avLst/>
          </a:prstGeom>
          <a:solidFill>
            <a:srgbClr val="0F2040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718304" y="1115568"/>
            <a:ext cx="17830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ClinicalRiskAssessment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764024" y="1554480"/>
            <a:ext cx="169164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2 upload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Tesseract.js OCR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Date &amp; value extraction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6620256" y="2240280"/>
            <a:ext cx="182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94A3B8"/>
                </a:solidFill>
              </a:rPr>
              <a:t>→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6803136" y="1097280"/>
            <a:ext cx="1965960" cy="2560320"/>
          </a:xfrm>
          <a:prstGeom prst="rect">
            <a:avLst/>
          </a:prstGeom>
          <a:solidFill>
            <a:srgbClr val="1A3460"/>
          </a:solidFill>
          <a:ln w="12700">
            <a:solidFill>
              <a:srgbClr val="1E4080"/>
            </a:solidFill>
            <a:prstDash val="solid"/>
          </a:ln>
          <a:effectLst>
            <a:outerShdw blurRad="101600" dist="381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6803136" y="1097280"/>
            <a:ext cx="1965960" cy="347472"/>
          </a:xfrm>
          <a:prstGeom prst="rect">
            <a:avLst/>
          </a:prstGeom>
          <a:solidFill>
            <a:srgbClr val="0F2040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94576" y="1115568"/>
            <a:ext cx="17830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ResultCard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6940296" y="1554480"/>
            <a:ext cx="169164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3 results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Premium tier display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factor breakdown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274320" y="3840480"/>
            <a:ext cx="8595360" cy="1051560"/>
          </a:xfrm>
          <a:prstGeom prst="rect">
            <a:avLst/>
          </a:prstGeom>
          <a:solidFill>
            <a:srgbClr val="1A3460"/>
          </a:solidFill>
          <a:ln w="12700">
            <a:solidFill>
              <a:srgbClr val="1E4080"/>
            </a:solidFill>
            <a:prstDash val="solid"/>
          </a:ln>
          <a:effectLst>
            <a:outerShdw blurRad="101600" dist="381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457200" y="3913632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FE Features: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2286000" y="4005072"/>
            <a:ext cx="118872" cy="118872"/>
          </a:xfrm>
          <a:prstGeom prst="ellipse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2423160" y="3959352"/>
            <a:ext cx="1234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Drag &amp; drop file upload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3584448" y="4005072"/>
            <a:ext cx="118872" cy="118872"/>
          </a:xfrm>
          <a:prstGeom prst="ellipse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721608" y="3959352"/>
            <a:ext cx="1234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OCR progress bar (0-100%)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4882896" y="4005072"/>
            <a:ext cx="118872" cy="118872"/>
          </a:xfrm>
          <a:prstGeom prst="ellipse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020056" y="3959352"/>
            <a:ext cx="1234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 guards (digits/letters only)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6181344" y="4005072"/>
            <a:ext cx="118872" cy="118872"/>
          </a:xfrm>
          <a:prstGeom prst="ellipse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318504" y="3959352"/>
            <a:ext cx="1234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sample profiles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7479792" y="4005072"/>
            <a:ext cx="118872" cy="118872"/>
          </a:xfrm>
          <a:prstGeom prst="ellipse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7616952" y="3959352"/>
            <a:ext cx="1234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Responsive dark UI (TailwindCSS)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3716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Technical Requirements — Backend &amp; AI Tools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658368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FastAPI risk engine and OCR pipeline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987552"/>
            <a:ext cx="8229600" cy="18288"/>
          </a:xfrm>
          <a:prstGeom prst="rect">
            <a:avLst/>
          </a:prstGeom>
          <a:solidFill>
            <a:srgbClr val="1A3460"/>
          </a:solidFill>
          <a:ln w="12700">
            <a:solidFill>
              <a:srgbClr val="1A346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20040" y="1097280"/>
            <a:ext cx="5029200" cy="3474720"/>
          </a:xfrm>
          <a:prstGeom prst="rect">
            <a:avLst/>
          </a:prstGeom>
          <a:solidFill>
            <a:srgbClr val="1A3460"/>
          </a:solidFill>
          <a:ln w="12700">
            <a:solidFill>
              <a:srgbClr val="1E4080"/>
            </a:solidFill>
            <a:prstDash val="solid"/>
          </a:ln>
          <a:effectLst>
            <a:outerShdw blurRad="101600" dist="381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457200" y="1170432"/>
            <a:ext cx="4754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Endpoints (FastAPI)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11480" y="1664208"/>
            <a:ext cx="4846320" cy="475488"/>
          </a:xfrm>
          <a:prstGeom prst="rect">
            <a:avLst/>
          </a:prstGeom>
          <a:solidFill>
            <a:srgbClr val="0F2040"/>
          </a:solidFill>
          <a:ln w="12700">
            <a:solidFill>
              <a:srgbClr val="1A346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2920" y="1737360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 /api/health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3108960" y="1737360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 health check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11480" y="2231136"/>
            <a:ext cx="4846320" cy="475488"/>
          </a:xfrm>
          <a:prstGeom prst="rect">
            <a:avLst/>
          </a:prstGeom>
          <a:solidFill>
            <a:srgbClr val="162850"/>
          </a:solidFill>
          <a:ln w="12700">
            <a:solidFill>
              <a:srgbClr val="1A346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02920" y="2304288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 /api/debug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3108960" y="2304288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Tesseract version info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11480" y="2798064"/>
            <a:ext cx="4846320" cy="475488"/>
          </a:xfrm>
          <a:prstGeom prst="rect">
            <a:avLst/>
          </a:prstGeom>
          <a:solidFill>
            <a:srgbClr val="0F2040"/>
          </a:solidFill>
          <a:ln w="12700">
            <a:solidFill>
              <a:srgbClr val="1A346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02920" y="2871216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POST /api/validate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3108960" y="2871216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 report date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11480" y="3364992"/>
            <a:ext cx="4846320" cy="475488"/>
          </a:xfrm>
          <a:prstGeom prst="rect">
            <a:avLst/>
          </a:prstGeom>
          <a:solidFill>
            <a:srgbClr val="162850"/>
          </a:solidFill>
          <a:ln w="12700">
            <a:solidFill>
              <a:srgbClr val="1A346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02920" y="3438144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POST /api/extract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3108960" y="3438144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 medical values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11480" y="3931920"/>
            <a:ext cx="4846320" cy="475488"/>
          </a:xfrm>
          <a:prstGeom prst="rect">
            <a:avLst/>
          </a:prstGeom>
          <a:solidFill>
            <a:srgbClr val="0F2040"/>
          </a:solidFill>
          <a:ln w="12700">
            <a:solidFill>
              <a:srgbClr val="1A346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02920" y="4005072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POST /api/underwrite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3108960" y="4005072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score + premium tier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5623560" y="1097280"/>
            <a:ext cx="3200400" cy="3474720"/>
          </a:xfrm>
          <a:prstGeom prst="rect">
            <a:avLst/>
          </a:prstGeom>
          <a:solidFill>
            <a:srgbClr val="1A3460"/>
          </a:solidFill>
          <a:ln w="12700">
            <a:solidFill>
              <a:srgbClr val="1E4080"/>
            </a:solidFill>
            <a:prstDash val="solid"/>
          </a:ln>
          <a:effectLst>
            <a:outerShdw blurRad="101600" dist="381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760720" y="1170432"/>
            <a:ext cx="2926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Engine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5760720" y="1664208"/>
            <a:ext cx="128016" cy="128016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943600" y="1636776"/>
            <a:ext cx="27432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 bracket scoring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5760720" y="2066544"/>
            <a:ext cx="128016" cy="128016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943600" y="2039112"/>
            <a:ext cx="27432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BMI calculation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5760720" y="2468880"/>
            <a:ext cx="128016" cy="128016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943600" y="2441448"/>
            <a:ext cx="27432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Smoking / Alcohol / Exercise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5760720" y="2871216"/>
            <a:ext cx="128016" cy="128016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843784"/>
            <a:ext cx="27432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Family history keywords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5760720" y="3273552"/>
            <a:ext cx="128016" cy="128016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943600" y="3246120"/>
            <a:ext cx="27432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Fasting Glucose &amp; HbA1c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5760720" y="3675888"/>
            <a:ext cx="128016" cy="128016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943600" y="3648456"/>
            <a:ext cx="27432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Blood Pressure (AHA/ACC)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5760720" y="4078224"/>
            <a:ext cx="128016" cy="128016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943600" y="4050792"/>
            <a:ext cx="27432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Cholesterol &amp; Triglycerides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320040" y="4681728"/>
            <a:ext cx="8503920" cy="320040"/>
          </a:xfrm>
          <a:prstGeom prst="rect">
            <a:avLst/>
          </a:prstGeom>
          <a:solidFill>
            <a:srgbClr val="1A3460"/>
          </a:solidFill>
          <a:ln w="12700">
            <a:solidFill>
              <a:srgbClr val="1E4080"/>
            </a:solidFill>
            <a:prstDash val="solid"/>
          </a:ln>
          <a:effectLst>
            <a:outerShdw blurRad="101600" dist="381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40" name="Text 38"/>
          <p:cNvSpPr/>
          <p:nvPr/>
        </p:nvSpPr>
        <p:spPr>
          <a:xfrm>
            <a:off x="457200" y="4700016"/>
            <a:ext cx="8321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🔍  OCR Tool: Tesseract.js (browser) · Regex extraction for dates &amp; medical values · No cloud API required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3716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Architecture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658368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End-to-end flow of InsurePro AI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987552"/>
            <a:ext cx="8229600" cy="18288"/>
          </a:xfrm>
          <a:prstGeom prst="rect">
            <a:avLst/>
          </a:prstGeom>
          <a:solidFill>
            <a:srgbClr val="1A3460"/>
          </a:solidFill>
          <a:ln w="12700">
            <a:solidFill>
              <a:srgbClr val="1A346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74320" y="1097280"/>
            <a:ext cx="2560320" cy="1554480"/>
          </a:xfrm>
          <a:prstGeom prst="rect">
            <a:avLst/>
          </a:prstGeom>
          <a:solidFill>
            <a:srgbClr val="1A3460"/>
          </a:solidFill>
          <a:ln w="12700">
            <a:solidFill>
              <a:srgbClr val="1E4080"/>
            </a:solidFill>
            <a:prstDash val="solid"/>
          </a:ln>
          <a:effectLst>
            <a:outerShdw blurRad="101600" dist="381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11480" y="1234440"/>
            <a:ext cx="457200" cy="457200"/>
          </a:xfrm>
          <a:prstGeom prst="ellipse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12344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960120" y="1280160"/>
            <a:ext cx="17373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fills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Profile Form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2862072" y="1691640"/>
            <a:ext cx="274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94A3B8"/>
                </a:solidFill>
              </a:rPr>
              <a:t>→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3154680" y="1097280"/>
            <a:ext cx="2560320" cy="1554480"/>
          </a:xfrm>
          <a:prstGeom prst="rect">
            <a:avLst/>
          </a:prstGeom>
          <a:solidFill>
            <a:srgbClr val="1A3460"/>
          </a:solidFill>
          <a:ln w="12700">
            <a:solidFill>
              <a:srgbClr val="1E4080"/>
            </a:solidFill>
            <a:prstDash val="solid"/>
          </a:ln>
          <a:effectLst>
            <a:outerShdw blurRad="101600" dist="381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291840" y="1234440"/>
            <a:ext cx="457200" cy="457200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291840" y="12344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3840480" y="1280160"/>
            <a:ext cx="17373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Upload Medical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 Image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742432" y="1691640"/>
            <a:ext cx="274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94A3B8"/>
                </a:solidFill>
              </a:rPr>
              <a:t>→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6035040" y="1097280"/>
            <a:ext cx="2560320" cy="1554480"/>
          </a:xfrm>
          <a:prstGeom prst="rect">
            <a:avLst/>
          </a:prstGeom>
          <a:solidFill>
            <a:srgbClr val="1A3460"/>
          </a:solidFill>
          <a:ln w="12700">
            <a:solidFill>
              <a:srgbClr val="1E4080"/>
            </a:solidFill>
            <a:prstDash val="solid"/>
          </a:ln>
          <a:effectLst>
            <a:outerShdw blurRad="101600" dist="381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172200" y="1234440"/>
            <a:ext cx="457200" cy="457200"/>
          </a:xfrm>
          <a:prstGeom prst="ellipse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172200" y="12344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6720840" y="1280160"/>
            <a:ext cx="17373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Tesseract.js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OCR (Browser)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274320" y="3017520"/>
            <a:ext cx="2560320" cy="1554480"/>
          </a:xfrm>
          <a:prstGeom prst="rect">
            <a:avLst/>
          </a:prstGeom>
          <a:solidFill>
            <a:srgbClr val="1A3460"/>
          </a:solidFill>
          <a:ln w="12700">
            <a:solidFill>
              <a:srgbClr val="1E4080"/>
            </a:solidFill>
            <a:prstDash val="solid"/>
          </a:ln>
          <a:effectLst>
            <a:outerShdw blurRad="101600" dist="381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411480" y="3154680"/>
            <a:ext cx="457200" cy="457200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11480" y="31546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960120" y="3200400"/>
            <a:ext cx="17373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 Date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&amp; Medical Values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2862072" y="3611880"/>
            <a:ext cx="274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94A3B8"/>
                </a:solidFill>
              </a:rPr>
              <a:t>→</a:t>
            </a:r>
            <a:endParaRPr lang="en-US" sz="1800" dirty="0"/>
          </a:p>
        </p:txBody>
      </p:sp>
      <p:sp>
        <p:nvSpPr>
          <p:cNvPr id="25" name="Shape 23"/>
          <p:cNvSpPr/>
          <p:nvPr/>
        </p:nvSpPr>
        <p:spPr>
          <a:xfrm>
            <a:off x="3154680" y="3017520"/>
            <a:ext cx="2560320" cy="1554480"/>
          </a:xfrm>
          <a:prstGeom prst="rect">
            <a:avLst/>
          </a:prstGeom>
          <a:solidFill>
            <a:srgbClr val="1A3460"/>
          </a:solidFill>
          <a:ln w="12700">
            <a:solidFill>
              <a:srgbClr val="1E4080"/>
            </a:solidFill>
            <a:prstDash val="solid"/>
          </a:ln>
          <a:effectLst>
            <a:outerShdw blurRad="101600" dist="381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3291840" y="3154680"/>
            <a:ext cx="457200" cy="457200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291840" y="31546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3840480" y="3200400"/>
            <a:ext cx="17373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FastAPI Risk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 (Render)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5742432" y="3611880"/>
            <a:ext cx="274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94A3B8"/>
                </a:solidFill>
              </a:rPr>
              <a:t>→</a:t>
            </a:r>
            <a:endParaRPr lang="en-US" sz="1800" dirty="0"/>
          </a:p>
        </p:txBody>
      </p:sp>
      <p:sp>
        <p:nvSpPr>
          <p:cNvPr id="30" name="Shape 28"/>
          <p:cNvSpPr/>
          <p:nvPr/>
        </p:nvSpPr>
        <p:spPr>
          <a:xfrm>
            <a:off x="6035040" y="3017520"/>
            <a:ext cx="2560320" cy="1554480"/>
          </a:xfrm>
          <a:prstGeom prst="rect">
            <a:avLst/>
          </a:prstGeom>
          <a:solidFill>
            <a:srgbClr val="1A3460"/>
          </a:solidFill>
          <a:ln w="12700">
            <a:solidFill>
              <a:srgbClr val="1E4080"/>
            </a:solidFill>
            <a:prstDash val="solid"/>
          </a:ln>
          <a:effectLst>
            <a:outerShdw blurRad="101600" dist="381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6172200" y="3154680"/>
            <a:ext cx="457200" cy="457200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172200" y="31546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600" dirty="0"/>
          </a:p>
        </p:txBody>
      </p:sp>
      <p:sp>
        <p:nvSpPr>
          <p:cNvPr id="33" name="Text 31"/>
          <p:cNvSpPr/>
          <p:nvPr/>
        </p:nvSpPr>
        <p:spPr>
          <a:xfrm>
            <a:off x="6720840" y="3200400"/>
            <a:ext cx="17373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Insurance Quote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Displayed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4114800" y="2788920"/>
            <a:ext cx="1371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94A3B8"/>
                </a:solidFill>
              </a:rPr>
              <a:t>↓ continues below ↓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3716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 Screenshots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658368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application running at insure-final.vercel.app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987552"/>
            <a:ext cx="8229600" cy="18288"/>
          </a:xfrm>
          <a:prstGeom prst="rect">
            <a:avLst/>
          </a:prstGeom>
          <a:solidFill>
            <a:srgbClr val="1A3460"/>
          </a:solidFill>
          <a:ln w="12700">
            <a:solidFill>
              <a:srgbClr val="1A346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74320" y="1097280"/>
            <a:ext cx="2743200" cy="3794760"/>
          </a:xfrm>
          <a:prstGeom prst="rect">
            <a:avLst/>
          </a:prstGeom>
          <a:solidFill>
            <a:srgbClr val="1A3460"/>
          </a:solidFill>
          <a:ln w="12700">
            <a:solidFill>
              <a:srgbClr val="1E4080"/>
            </a:solidFill>
            <a:prstDash val="solid"/>
          </a:ln>
          <a:effectLst>
            <a:outerShdw blurRad="101600" dist="381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274320" y="1097280"/>
            <a:ext cx="2743200" cy="347472"/>
          </a:xfrm>
          <a:prstGeom prst="rect">
            <a:avLst/>
          </a:prstGeom>
          <a:solidFill>
            <a:srgbClr val="0F2040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65760" y="1115568"/>
            <a:ext cx="25603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1 — Profile Form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11480" y="1572768"/>
            <a:ext cx="2468880" cy="1828800"/>
          </a:xfrm>
          <a:prstGeom prst="rect">
            <a:avLst/>
          </a:prstGeom>
          <a:solidFill>
            <a:srgbClr val="0F2040"/>
          </a:solidFill>
          <a:ln w="12700">
            <a:solidFill>
              <a:srgbClr val="1E408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11480" y="1572768"/>
            <a:ext cx="246888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 Screenshot ]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365760" y="3493008"/>
            <a:ext cx="260604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Policyholder enters personal details, height/weight, lifestyle factors. Sample data buttons available for quick testing.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172968" y="1097280"/>
            <a:ext cx="2743200" cy="3794760"/>
          </a:xfrm>
          <a:prstGeom prst="rect">
            <a:avLst/>
          </a:prstGeom>
          <a:solidFill>
            <a:srgbClr val="1A3460"/>
          </a:solidFill>
          <a:ln w="12700">
            <a:solidFill>
              <a:srgbClr val="1E4080"/>
            </a:solidFill>
            <a:prstDash val="solid"/>
          </a:ln>
          <a:effectLst>
            <a:outerShdw blurRad="101600" dist="381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172968" y="1097280"/>
            <a:ext cx="2743200" cy="347472"/>
          </a:xfrm>
          <a:prstGeom prst="rect">
            <a:avLst/>
          </a:prstGeom>
          <a:solidFill>
            <a:srgbClr val="0F2040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64408" y="1115568"/>
            <a:ext cx="25603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2 — Medical Report Upload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310128" y="1572768"/>
            <a:ext cx="2468880" cy="1828800"/>
          </a:xfrm>
          <a:prstGeom prst="rect">
            <a:avLst/>
          </a:prstGeom>
          <a:solidFill>
            <a:srgbClr val="0F2040"/>
          </a:solidFill>
          <a:ln w="12700">
            <a:solidFill>
              <a:srgbClr val="1E408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310128" y="1572768"/>
            <a:ext cx="246888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 Screenshot ]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3264408" y="3493008"/>
            <a:ext cx="260604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Drag &amp; drop medical report image. Tesseract.js OCR runs in browser, extracts date and medical values with live progress bar.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6071616" y="1097280"/>
            <a:ext cx="2743200" cy="3794760"/>
          </a:xfrm>
          <a:prstGeom prst="rect">
            <a:avLst/>
          </a:prstGeom>
          <a:solidFill>
            <a:srgbClr val="1A3460"/>
          </a:solidFill>
          <a:ln w="12700">
            <a:solidFill>
              <a:srgbClr val="1E4080"/>
            </a:solidFill>
            <a:prstDash val="solid"/>
          </a:ln>
          <a:effectLst>
            <a:outerShdw blurRad="101600" dist="381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6071616" y="1097280"/>
            <a:ext cx="2743200" cy="347472"/>
          </a:xfrm>
          <a:prstGeom prst="rect">
            <a:avLst/>
          </a:prstGeom>
          <a:solidFill>
            <a:srgbClr val="0F2040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163056" y="1115568"/>
            <a:ext cx="25603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3 — Insurance Quote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6208776" y="1572768"/>
            <a:ext cx="2468880" cy="1828800"/>
          </a:xfrm>
          <a:prstGeom prst="rect">
            <a:avLst/>
          </a:prstGeom>
          <a:solidFill>
            <a:srgbClr val="0F2040"/>
          </a:solidFill>
          <a:ln w="12700">
            <a:solidFill>
              <a:srgbClr val="1E408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208776" y="1572768"/>
            <a:ext cx="246888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 Screenshot ]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6163056" y="3493008"/>
            <a:ext cx="260604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score, BMI, premium tier (Platinum/Gold/Silver/Standard/Declined) with detailed risk factor breakdown.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2286000" y="4846320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🌐  Live at: insure-final.vercel.app</a:t>
            </a:r>
            <a:endParaRPr lang="en-US" sz="1200" dirty="0"/>
          </a:p>
        </p:txBody>
      </p:sp>
      <p:pic>
        <p:nvPicPr>
          <p:cNvPr id="30" name="Picture 29">
            <a:extLst>
              <a:ext uri="{FF2B5EF4-FFF2-40B4-BE49-F238E27FC236}">
                <a16:creationId xmlns:a16="http://schemas.microsoft.com/office/drawing/2014/main" id="{D280662E-79B9-6A98-8DDE-AA568B2292F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1560419"/>
            <a:ext cx="2468880" cy="1837944"/>
          </a:xfrm>
          <a:prstGeom prst="rect">
            <a:avLst/>
          </a:prstGeom>
        </p:spPr>
      </p:pic>
      <p:pic>
        <p:nvPicPr>
          <p:cNvPr id="32" name="Picture 31">
            <a:extLst>
              <a:ext uri="{FF2B5EF4-FFF2-40B4-BE49-F238E27FC236}">
                <a16:creationId xmlns:a16="http://schemas.microsoft.com/office/drawing/2014/main" id="{681070DD-4A16-4DED-2298-B4D0F3C4764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10128" y="1564991"/>
            <a:ext cx="2468880" cy="1828800"/>
          </a:xfrm>
          <a:prstGeom prst="rect">
            <a:avLst/>
          </a:prstGeom>
        </p:spPr>
      </p:pic>
      <p:pic>
        <p:nvPicPr>
          <p:cNvPr id="34" name="Picture 33">
            <a:extLst>
              <a:ext uri="{FF2B5EF4-FFF2-40B4-BE49-F238E27FC236}">
                <a16:creationId xmlns:a16="http://schemas.microsoft.com/office/drawing/2014/main" id="{1A675B4F-EDAD-8595-3CE3-8C747AB23EC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08776" y="1581911"/>
            <a:ext cx="2468880" cy="1819657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3716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Insurance Premium Tiers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658368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Risk-based pricing aligned with industry standards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987552"/>
            <a:ext cx="8229600" cy="18288"/>
          </a:xfrm>
          <a:prstGeom prst="rect">
            <a:avLst/>
          </a:prstGeom>
          <a:solidFill>
            <a:srgbClr val="1A3460"/>
          </a:solidFill>
          <a:ln w="12700">
            <a:solidFill>
              <a:srgbClr val="1A346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20040" y="1143000"/>
            <a:ext cx="8503920" cy="621792"/>
          </a:xfrm>
          <a:prstGeom prst="rect">
            <a:avLst/>
          </a:prstGeom>
          <a:solidFill>
            <a:srgbClr val="1A3460"/>
          </a:solidFill>
          <a:ln w="12700">
            <a:solidFill>
              <a:srgbClr val="1E4080"/>
            </a:solidFill>
            <a:prstDash val="solid"/>
          </a:ln>
          <a:effectLst>
            <a:outerShdw blurRad="101600" dist="381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457200" y="1234440"/>
            <a:ext cx="4572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00000"/>
                </a:solidFill>
              </a:rPr>
              <a:t>💎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005840" y="1280160"/>
            <a:ext cx="1645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Platinum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2743200" y="1280160"/>
            <a:ext cx="1828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Score: ≤ 1.5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663440" y="1280160"/>
            <a:ext cx="20116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Coverage: ₹1 Crore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766560" y="1280160"/>
            <a:ext cx="1737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3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₹4,000/yr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20040" y="1856232"/>
            <a:ext cx="8503920" cy="621792"/>
          </a:xfrm>
          <a:prstGeom prst="rect">
            <a:avLst/>
          </a:prstGeom>
          <a:solidFill>
            <a:srgbClr val="1A3460"/>
          </a:solidFill>
          <a:ln w="12700">
            <a:solidFill>
              <a:srgbClr val="1E4080"/>
            </a:solidFill>
            <a:prstDash val="solid"/>
          </a:ln>
          <a:effectLst>
            <a:outerShdw blurRad="101600" dist="381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457200" y="1947672"/>
            <a:ext cx="4572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00000"/>
                </a:solidFill>
              </a:rPr>
              <a:t>🏆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005840" y="1993392"/>
            <a:ext cx="1645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Gold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2743200" y="1993392"/>
            <a:ext cx="1828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Score: ≤ 3.0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663440" y="1993392"/>
            <a:ext cx="20116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Coverage: ₹75 Lakhs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766560" y="1993392"/>
            <a:ext cx="1737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3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₹6,000/yr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320040" y="2569464"/>
            <a:ext cx="8503920" cy="621792"/>
          </a:xfrm>
          <a:prstGeom prst="rect">
            <a:avLst/>
          </a:prstGeom>
          <a:solidFill>
            <a:srgbClr val="1A3460"/>
          </a:solidFill>
          <a:ln w="12700">
            <a:solidFill>
              <a:srgbClr val="1E4080"/>
            </a:solidFill>
            <a:prstDash val="solid"/>
          </a:ln>
          <a:effectLst>
            <a:outerShdw blurRad="101600" dist="381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57200" y="2660904"/>
            <a:ext cx="4572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00000"/>
                </a:solidFill>
              </a:rPr>
              <a:t>🥈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1005840" y="2706624"/>
            <a:ext cx="1645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8B5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Silver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2743200" y="2706624"/>
            <a:ext cx="1828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Score: ≤ 5.0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4663440" y="2706624"/>
            <a:ext cx="20116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Coverage: ₹50 Lakhs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6766560" y="2706624"/>
            <a:ext cx="1737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300" b="1" dirty="0">
                <a:solidFill>
                  <a:srgbClr val="8B5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₹9,000/yr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20040" y="3282696"/>
            <a:ext cx="8503920" cy="621792"/>
          </a:xfrm>
          <a:prstGeom prst="rect">
            <a:avLst/>
          </a:prstGeom>
          <a:solidFill>
            <a:srgbClr val="1A3460"/>
          </a:solidFill>
          <a:ln w="12700">
            <a:solidFill>
              <a:srgbClr val="1E4080"/>
            </a:solidFill>
            <a:prstDash val="solid"/>
          </a:ln>
          <a:effectLst>
            <a:outerShdw blurRad="101600" dist="381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457200" y="3374136"/>
            <a:ext cx="4572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00000"/>
                </a:solidFill>
              </a:rPr>
              <a:t>📋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1005840" y="3419856"/>
            <a:ext cx="1645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2743200" y="3419856"/>
            <a:ext cx="1828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Score: ≤ 7.0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4663440" y="3419856"/>
            <a:ext cx="20116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Coverage: ₹25 Lakhs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6766560" y="3419856"/>
            <a:ext cx="1737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3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₹13,000/yr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0040" y="3995928"/>
            <a:ext cx="8503920" cy="621792"/>
          </a:xfrm>
          <a:prstGeom prst="rect">
            <a:avLst/>
          </a:prstGeom>
          <a:solidFill>
            <a:srgbClr val="1A3460"/>
          </a:solidFill>
          <a:ln w="12700">
            <a:solidFill>
              <a:srgbClr val="1E4080"/>
            </a:solidFill>
            <a:prstDash val="solid"/>
          </a:ln>
          <a:effectLst>
            <a:outerShdw blurRad="101600" dist="381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457200" y="4087368"/>
            <a:ext cx="4572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00000"/>
                </a:solidFill>
              </a:rPr>
              <a:t>❌</a:t>
            </a:r>
            <a:endParaRPr lang="en-US" sz="1800" dirty="0"/>
          </a:p>
        </p:txBody>
      </p:sp>
      <p:sp>
        <p:nvSpPr>
          <p:cNvPr id="32" name="Text 30"/>
          <p:cNvSpPr/>
          <p:nvPr/>
        </p:nvSpPr>
        <p:spPr>
          <a:xfrm>
            <a:off x="1005840" y="4133088"/>
            <a:ext cx="1645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Declined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2743200" y="4133088"/>
            <a:ext cx="1828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Score: &gt; 7.0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4663440" y="4133088"/>
            <a:ext cx="20116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Coverage: N/A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6766560" y="4133088"/>
            <a:ext cx="1737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3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457200" y="4828032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 Premiums multiplied by age factor: 1.15× (36–45) · 1.35× (46–55) · 1.60× (55+)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3716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658368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built and what we achieved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987552"/>
            <a:ext cx="8229600" cy="18288"/>
          </a:xfrm>
          <a:prstGeom prst="rect">
            <a:avLst/>
          </a:prstGeom>
          <a:solidFill>
            <a:srgbClr val="1A3460"/>
          </a:solidFill>
          <a:ln w="12700">
            <a:solidFill>
              <a:srgbClr val="1A346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20040" y="1271016"/>
            <a:ext cx="8503920" cy="2286000"/>
          </a:xfrm>
          <a:prstGeom prst="rect">
            <a:avLst/>
          </a:prstGeom>
          <a:solidFill>
            <a:srgbClr val="1A3460"/>
          </a:solidFill>
          <a:ln w="12700">
            <a:solidFill>
              <a:srgbClr val="1E4080"/>
            </a:solidFill>
            <a:prstDash val="solid"/>
          </a:ln>
          <a:effectLst>
            <a:outerShdw blurRad="101600" dist="381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48640" y="1234440"/>
            <a:ext cx="81381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InsurePro AI</a:t>
            </a:r>
            <a:r>
              <a:rPr lang="en-US" sz="13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successfully demonstrates a complete, production-ready health insurance underwriting pipeline. The system integrates </a:t>
            </a:r>
            <a:r>
              <a:rPr lang="en-US" sz="130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Tesseract.js OCR</a:t>
            </a:r>
            <a:r>
              <a:rPr lang="en-US" sz="13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for client-side document processing, a </a:t>
            </a:r>
            <a:r>
              <a:rPr lang="en-US" sz="13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rule-based risk scoring engine</a:t>
            </a:r>
            <a:r>
              <a:rPr lang="en-US" sz="13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based on medical guidelines, and a </a:t>
            </a:r>
            <a:r>
              <a:rPr lang="en-US" sz="13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modern React + FastAPI</a:t>
            </a:r>
            <a:r>
              <a:rPr lang="en-US" sz="13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full-stack architecture — deployed live on Vercel and Render.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48640" y="2240280"/>
            <a:ext cx="804672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Full 3-step underwriting flow working end-to-end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48640" y="2578608"/>
            <a:ext cx="804672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OCR runs in browser — no server dependency, no API costs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548640" y="2916936"/>
            <a:ext cx="804672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Risk engine follows ADA and AHA/ACC medical standards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48640" y="3255264"/>
            <a:ext cx="804672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Deployed live — accessible from any device worldwide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3716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Work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658368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Enhancements planned for the next version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987552"/>
            <a:ext cx="8229600" cy="18288"/>
          </a:xfrm>
          <a:prstGeom prst="rect">
            <a:avLst/>
          </a:prstGeom>
          <a:solidFill>
            <a:srgbClr val="1A3460"/>
          </a:solidFill>
          <a:ln w="12700">
            <a:solidFill>
              <a:srgbClr val="1A346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20040" y="1143000"/>
            <a:ext cx="4114800" cy="1188720"/>
          </a:xfrm>
          <a:prstGeom prst="rect">
            <a:avLst/>
          </a:prstGeom>
          <a:solidFill>
            <a:srgbClr val="1A3460"/>
          </a:solidFill>
          <a:ln w="12700">
            <a:solidFill>
              <a:srgbClr val="1E4080"/>
            </a:solidFill>
            <a:prstDash val="solid"/>
          </a:ln>
          <a:effectLst>
            <a:outerShdw blurRad="101600" dist="381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429768" y="12344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00000"/>
                </a:solidFill>
              </a:rPr>
              <a:t>🗄️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960120" y="1216152"/>
            <a:ext cx="32918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 Integration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960120" y="1581912"/>
            <a:ext cx="333756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PostgreSQL to store policyholder profiles, medical history and quote history for returning users.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754880" y="1143000"/>
            <a:ext cx="4114800" cy="1188720"/>
          </a:xfrm>
          <a:prstGeom prst="rect">
            <a:avLst/>
          </a:prstGeom>
          <a:solidFill>
            <a:srgbClr val="1A3460"/>
          </a:solidFill>
          <a:ln w="12700">
            <a:solidFill>
              <a:srgbClr val="1E4080"/>
            </a:solidFill>
            <a:prstDash val="solid"/>
          </a:ln>
          <a:effectLst>
            <a:outerShdw blurRad="101600" dist="381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4864608" y="12344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00000"/>
                </a:solidFill>
              </a:rPr>
              <a:t>🔐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5394960" y="1216152"/>
            <a:ext cx="32918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Authentication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394960" y="1581912"/>
            <a:ext cx="333756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JWT-based login system so agents and policyholders can access their history securely.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320040" y="2514600"/>
            <a:ext cx="4114800" cy="1188720"/>
          </a:xfrm>
          <a:prstGeom prst="rect">
            <a:avLst/>
          </a:prstGeom>
          <a:solidFill>
            <a:srgbClr val="1A3460"/>
          </a:solidFill>
          <a:ln w="12700">
            <a:solidFill>
              <a:srgbClr val="1E4080"/>
            </a:solidFill>
            <a:prstDash val="solid"/>
          </a:ln>
          <a:effectLst>
            <a:outerShdw blurRad="101600" dist="381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429768" y="26060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00000"/>
                </a:solidFill>
              </a:rPr>
              <a:t>🤖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960120" y="2587752"/>
            <a:ext cx="32918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AI-Enhanced OCR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960120" y="2953512"/>
            <a:ext cx="333756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Integrate an LLM layer (like Gemini or GPT-4 Vision) on top of Tesseract for handling low-quality or handwritten reports.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754880" y="2514600"/>
            <a:ext cx="4114800" cy="1188720"/>
          </a:xfrm>
          <a:prstGeom prst="rect">
            <a:avLst/>
          </a:prstGeom>
          <a:solidFill>
            <a:srgbClr val="1A3460"/>
          </a:solidFill>
          <a:ln w="12700">
            <a:solidFill>
              <a:srgbClr val="1E4080"/>
            </a:solidFill>
            <a:prstDash val="solid"/>
          </a:ln>
          <a:effectLst>
            <a:outerShdw blurRad="101600" dist="381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64608" y="26060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00000"/>
                </a:solidFill>
              </a:rPr>
              <a:t>📱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5394960" y="2587752"/>
            <a:ext cx="32918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Mobile App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394960" y="2953512"/>
            <a:ext cx="333756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Native version for field agents to capture and process reports directly from their phones.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20040" y="3886200"/>
            <a:ext cx="4114800" cy="1188720"/>
          </a:xfrm>
          <a:prstGeom prst="rect">
            <a:avLst/>
          </a:prstGeom>
          <a:solidFill>
            <a:srgbClr val="1A3460"/>
          </a:solidFill>
          <a:ln w="12700">
            <a:solidFill>
              <a:srgbClr val="1E4080"/>
            </a:solidFill>
            <a:prstDash val="solid"/>
          </a:ln>
          <a:effectLst>
            <a:outerShdw blurRad="101600" dist="381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429768" y="39776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00000"/>
                </a:solidFill>
              </a:rPr>
              <a:t>📈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960120" y="3959352"/>
            <a:ext cx="32918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Analytics Dashboard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960120" y="4325112"/>
            <a:ext cx="333756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 panel showing aggregate risk trends, approval rates and premium distribution across demographics.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4754880" y="3886200"/>
            <a:ext cx="4114800" cy="1188720"/>
          </a:xfrm>
          <a:prstGeom prst="rect">
            <a:avLst/>
          </a:prstGeom>
          <a:solidFill>
            <a:srgbClr val="1A3460"/>
          </a:solidFill>
          <a:ln w="12700">
            <a:solidFill>
              <a:srgbClr val="1E4080"/>
            </a:solidFill>
            <a:prstDash val="solid"/>
          </a:ln>
          <a:effectLst>
            <a:outerShdw blurRad="101600" dist="381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4864608" y="39776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00000"/>
                </a:solidFill>
              </a:rPr>
              <a:t>🔗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5394960" y="3959352"/>
            <a:ext cx="32918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Insurer API Integration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5394960" y="4325112"/>
            <a:ext cx="333756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 with real insurance provider APIs to generate actual policy documents and payment links.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5052060"/>
            <a:ext cx="9144000" cy="9144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14400" y="1097280"/>
            <a:ext cx="73152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5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You!</a:t>
            </a:r>
            <a:endParaRPr lang="en-US" sz="5200" dirty="0"/>
          </a:p>
        </p:txBody>
      </p:sp>
      <p:sp>
        <p:nvSpPr>
          <p:cNvPr id="5" name="Text 3"/>
          <p:cNvSpPr/>
          <p:nvPr/>
        </p:nvSpPr>
        <p:spPr>
          <a:xfrm>
            <a:off x="914400" y="22860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InsurePro AI — Health Insurance Underwriting System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1828800" y="2926080"/>
            <a:ext cx="5486400" cy="1463040"/>
          </a:xfrm>
          <a:prstGeom prst="rect">
            <a:avLst/>
          </a:prstGeom>
          <a:solidFill>
            <a:srgbClr val="1A3460"/>
          </a:solidFill>
          <a:ln w="12700">
            <a:solidFill>
              <a:srgbClr val="1E4080"/>
            </a:solidFill>
            <a:prstDash val="solid"/>
          </a:ln>
          <a:effectLst>
            <a:outerShdw blurRad="101600" dist="381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2011680" y="3063240"/>
            <a:ext cx="5120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🌐  Live Demo: </a:t>
            </a:r>
            <a:r>
              <a:rPr lang="en-US" sz="1300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insure-final.vercel.app
</a:t>
            </a:r>
            <a:r>
              <a:rPr lang="en-US" sz="13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💻  GitHub: </a:t>
            </a:r>
            <a:r>
              <a:rPr lang="en-US" sz="1300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github.com/teamgraphiks024-jpg/insure-final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914400" y="46177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 &amp; Feedback Welcome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76</TotalTime>
  <Words>1359</Words>
  <Application>Microsoft Office PowerPoint</Application>
  <PresentationFormat>On-screen Show (16:9)</PresentationFormat>
  <Paragraphs>260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9" baseType="lpstr">
      <vt:lpstr>Arial</vt:lpstr>
      <vt:lpstr>Calibri</vt:lpstr>
      <vt:lpstr>Consolas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InsurePro AI</dc:title>
  <dc:subject>PptxGenJS Presentation</dc:subject>
  <dc:creator>PptxGenJS</dc:creator>
  <cp:lastModifiedBy>prasanth ms</cp:lastModifiedBy>
  <cp:revision>3</cp:revision>
  <dcterms:created xsi:type="dcterms:W3CDTF">2026-03-18T04:44:36Z</dcterms:created>
  <dcterms:modified xsi:type="dcterms:W3CDTF">2026-03-18T06:03:46Z</dcterms:modified>
</cp:coreProperties>
</file>